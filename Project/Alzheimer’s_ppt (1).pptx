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648680-244E-4FFF-8595-AC186CBC018D}">
  <a:tblStyle styleId="{A1648680-244E-4FFF-8595-AC186CBC01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aleway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33" Type="http://schemas.openxmlformats.org/officeDocument/2006/relationships/font" Target="fonts/Lato-bold.fntdata"/><Relationship Id="rId10" Type="http://schemas.openxmlformats.org/officeDocument/2006/relationships/slide" Target="slides/slide3.xml"/><Relationship Id="rId32" Type="http://schemas.openxmlformats.org/officeDocument/2006/relationships/font" Target="fonts/Lato-regular.fntdata"/><Relationship Id="rId13" Type="http://schemas.openxmlformats.org/officeDocument/2006/relationships/slide" Target="slides/slide6.xml"/><Relationship Id="rId35" Type="http://schemas.openxmlformats.org/officeDocument/2006/relationships/font" Target="fonts/Lato-boldItalic.fntdata"/><Relationship Id="rId12" Type="http://schemas.openxmlformats.org/officeDocument/2006/relationships/slide" Target="slides/slide5.xml"/><Relationship Id="rId34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1f87cb495_2_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81f87cb495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1f87cb495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81f87cb495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1f87cb495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81f87cb495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1f87cb495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81f87cb495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1f87cb495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81f87cb495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1f87cb495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81f87cb495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1f87cb495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81f87cb495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1f87cb495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1f87cb495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191aefaa7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191aefaa7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91aefaa7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91aefaa7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191aefaa7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191aefaa7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191aefaa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8191aefaa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91aefaa7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91aefaa7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191aefaa7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8191aefaa7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191aefaa7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191aefaa7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191aefaa7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8191aefaa7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7" name="Google Shape;9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4" name="Google Shape;104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rabieelkharoua/alzheimers-disease-dataset/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i.org/10.1109/ICUIS64676.2024.10867186" TargetMode="External"/><Relationship Id="rId4" Type="http://schemas.openxmlformats.org/officeDocument/2006/relationships/hyperlink" Target="https://doi.org/10.1109/ICACCS48705.2020.9074248" TargetMode="External"/><Relationship Id="rId5" Type="http://schemas.openxmlformats.org/officeDocument/2006/relationships/hyperlink" Target="https://doi.org/10.1109/IC3I59117.2023.10397683" TargetMode="External"/><Relationship Id="rId6" Type="http://schemas.openxmlformats.org/officeDocument/2006/relationships/hyperlink" Target="https://doi.org/10.1109/ICICAT62666.2024.109234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412300" y="1322450"/>
            <a:ext cx="8204700" cy="13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266666"/>
              <a:buNone/>
            </a:pPr>
            <a:r>
              <a:t/>
            </a:r>
            <a:endParaRPr b="0" sz="1750">
              <a:solidFill>
                <a:srgbClr val="E3E3E3"/>
              </a:solidFill>
              <a:highlight>
                <a:srgbClr val="383838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98142"/>
              <a:buNone/>
            </a:pPr>
            <a:r>
              <a:rPr lang="en" sz="4755">
                <a:latin typeface="Lato"/>
                <a:ea typeface="Lato"/>
                <a:cs typeface="Lato"/>
                <a:sym typeface="Lato"/>
              </a:rPr>
              <a:t>Alzheimer’s Disease Prediction</a:t>
            </a:r>
            <a:endParaRPr sz="475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5" y="3172900"/>
            <a:ext cx="7688100" cy="147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244125" y="3262550"/>
            <a:ext cx="83730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sng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Subject : Data Structures and Algorithm in Python</a:t>
            </a:r>
            <a:endParaRPr b="1" i="1" sz="1400" u="sng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Prof. Sanja Damjanovic</a:t>
            </a:r>
            <a:endParaRPr b="1" i="1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Sahana Srinivasa Babu</a:t>
            </a:r>
            <a:endParaRPr b="1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Meenakshi Rajpurohit</a:t>
            </a:r>
            <a:endParaRPr b="1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Bishakha</a:t>
            </a:r>
            <a:endParaRPr b="1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533475"/>
            <a:ext cx="7688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/>
              <a:t>Objective</a:t>
            </a:r>
            <a:endParaRPr sz="2500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1238075"/>
            <a:ext cx="7688700" cy="3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/>
              <a:t>To build a machine learning model that can accurately predict the presence of Alzheimer’s disease in patients based on clinical  data, in order to support early diagnosis and improve treatment planning.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chemeClr val="dk2"/>
                </a:solidFill>
              </a:rPr>
              <a:t>Project Flow:</a:t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Load and Inspect Data: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Check for missing values, duplicates, and incorrect data types.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Exploratory Data Analysis (EDA):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Visualize the data to find patterns and insights.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Data Preprocessing: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Clean the data and scale the features for modeling.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Model Training: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Train four different classification models.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Model Evaluation: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Compare the models using accuracy and confusion matrices.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2"/>
                </a:solidFill>
                <a:highlight>
                  <a:schemeClr val="lt1"/>
                </a:highlight>
              </a:rPr>
              <a:t>Feature Importance:</a:t>
            </a:r>
            <a:r>
              <a:rPr lang="en" sz="1400">
                <a:solidFill>
                  <a:schemeClr val="dk2"/>
                </a:solidFill>
                <a:highlight>
                  <a:schemeClr val="lt1"/>
                </a:highlight>
              </a:rPr>
              <a:t> Identify the most influential factors for prediction.</a:t>
            </a:r>
            <a:endParaRPr sz="14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00"/>
              <a:t>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583800"/>
            <a:ext cx="7688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Lato"/>
                <a:ea typeface="Lato"/>
                <a:cs typeface="Lato"/>
                <a:sym typeface="Lato"/>
              </a:rPr>
              <a:t>Flowchart</a:t>
            </a:r>
            <a:endParaRPr sz="25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78" name="Google Shape;178;p27" title="Flowchart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00" y="1097100"/>
            <a:ext cx="8771400" cy="381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729450" y="513356"/>
            <a:ext cx="7688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Exploratory Data Analysis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729450" y="1290925"/>
            <a:ext cx="7688700" cy="3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1400">
                <a:solidFill>
                  <a:schemeClr val="dk2"/>
                </a:solidFill>
              </a:rPr>
              <a:t>Dataset</a:t>
            </a:r>
            <a:r>
              <a:rPr lang="en" sz="1400"/>
              <a:t> 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https://www.kaggle.com/datasets/rabieelkharoua/alzheimers-disease-dataset/data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rPr b="1" lang="en" sz="1400">
                <a:solidFill>
                  <a:schemeClr val="dk2"/>
                </a:solidFill>
              </a:rPr>
              <a:t>Columns: </a:t>
            </a:r>
            <a:r>
              <a:rPr lang="en" sz="1400">
                <a:solidFill>
                  <a:schemeClr val="dk2"/>
                </a:solidFill>
              </a:rPr>
              <a:t>PatientID, Age, Gender, Ethnicity, EducationLevel, BMI, Smoking, AlcoholConsumption, PhysicalActivity, DietQuality, SleepQuality, FamilyHistoryAlzheimers, CardiovascularDisease, Diabetes, Depression, HeadInjury, Hypertension, SystolicBP, DiastolicBP, CholesterolTotal ,CholesterolLDL, CholesterolHDL, CholesterolTriglycerides, MMSE, FunctionalAssessment, MemoryComplaints, BehavioralProblems, ADL, Confusion, Disorientation, PersonalityChanges, DifficultyCompletingTasks, Forgetfulness, Diagnosis, DoctorInCharge. (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Total 35 columns)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rPr b="1" lang="en" sz="1400">
                <a:solidFill>
                  <a:schemeClr val="dk2"/>
                </a:solidFill>
              </a:rPr>
              <a:t>Rows :</a:t>
            </a:r>
            <a:r>
              <a:rPr lang="en" sz="1400">
                <a:solidFill>
                  <a:schemeClr val="dk2"/>
                </a:solidFill>
              </a:rPr>
              <a:t> 2149 Patient Dataset</a:t>
            </a:r>
            <a:endParaRPr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t/>
            </a:r>
            <a:endParaRPr sz="1400">
              <a:solidFill>
                <a:srgbClr val="3C40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553602"/>
            <a:ext cx="76887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Diagrams : Age And Diagnosis Distribution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725" y="1677050"/>
            <a:ext cx="3445125" cy="27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375" y="1751400"/>
            <a:ext cx="3341675" cy="27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727650" y="553599"/>
            <a:ext cx="7688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Correlation Heatmap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675" y="1217925"/>
            <a:ext cx="7981351" cy="382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657050" y="553626"/>
            <a:ext cx="76887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SzPts val="2600"/>
              <a:buNone/>
            </a:pPr>
            <a:r>
              <a:rPr lang="en" sz="24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Unique , Null And Duplicate Records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729450" y="1580300"/>
            <a:ext cx="7688700" cy="27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87867"/>
              <a:buNone/>
            </a:pPr>
            <a:r>
              <a:rPr lang="en" sz="5918">
                <a:solidFill>
                  <a:schemeClr val="dk2"/>
                </a:solidFill>
                <a:highlight>
                  <a:srgbClr val="FFFFFF"/>
                </a:highlight>
              </a:rPr>
              <a:t>After the initial Data Exploration following can be summarized about dataset:</a:t>
            </a:r>
            <a:endParaRPr sz="5918">
              <a:solidFill>
                <a:srgbClr val="C77220"/>
              </a:solidFill>
              <a:highlight>
                <a:srgbClr val="FFFFFF"/>
              </a:highlight>
            </a:endParaRPr>
          </a:p>
          <a:p>
            <a:pPr indent="-32258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ct val="100000"/>
              <a:buFont typeface="Arial"/>
              <a:buChar char="●"/>
            </a:pP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The dataset contains a total of </a:t>
            </a:r>
            <a:r>
              <a:rPr b="1" lang="en" sz="5918">
                <a:solidFill>
                  <a:srgbClr val="3C4043"/>
                </a:solidFill>
                <a:highlight>
                  <a:srgbClr val="FFFFFF"/>
                </a:highlight>
              </a:rPr>
              <a:t>2,149 observations</a:t>
            </a: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5918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25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Font typeface="Arial"/>
              <a:buChar char="●"/>
            </a:pP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All values in the dataset are </a:t>
            </a:r>
            <a:r>
              <a:rPr b="1" lang="en" sz="5918">
                <a:solidFill>
                  <a:srgbClr val="3C4043"/>
                </a:solidFill>
                <a:highlight>
                  <a:srgbClr val="FFFFFF"/>
                </a:highlight>
              </a:rPr>
              <a:t>non-null</a:t>
            </a: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 and </a:t>
            </a:r>
            <a:r>
              <a:rPr b="1" lang="en" sz="5918">
                <a:solidFill>
                  <a:srgbClr val="3C4043"/>
                </a:solidFill>
                <a:highlight>
                  <a:srgbClr val="FFFFFF"/>
                </a:highlight>
              </a:rPr>
              <a:t>numerical</a:t>
            </a: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5918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25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Font typeface="Arial"/>
              <a:buChar char="●"/>
            </a:pP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There are </a:t>
            </a:r>
            <a:r>
              <a:rPr b="1" lang="en" sz="5918">
                <a:solidFill>
                  <a:srgbClr val="3C4043"/>
                </a:solidFill>
                <a:highlight>
                  <a:srgbClr val="FFFFFF"/>
                </a:highlight>
              </a:rPr>
              <a:t>no duplicate</a:t>
            </a: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 records.</a:t>
            </a:r>
            <a:endParaRPr sz="5918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25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Font typeface="Arial"/>
              <a:buChar char="●"/>
            </a:pPr>
            <a:r>
              <a:rPr lang="en" sz="5918">
                <a:solidFill>
                  <a:srgbClr val="3C4043"/>
                </a:solidFill>
                <a:highlight>
                  <a:srgbClr val="FFFFFF"/>
                </a:highlight>
              </a:rPr>
              <a:t>Unique values for a column can be found using </a:t>
            </a:r>
            <a:r>
              <a:rPr b="1" i="1" lang="en" sz="5918">
                <a:solidFill>
                  <a:schemeClr val="dk2"/>
                </a:solidFill>
                <a:highlight>
                  <a:schemeClr val="lt1"/>
                </a:highlight>
              </a:rPr>
              <a:t>unique()</a:t>
            </a:r>
            <a:r>
              <a:rPr lang="en" sz="5918">
                <a:solidFill>
                  <a:schemeClr val="dk2"/>
                </a:solidFill>
                <a:highlight>
                  <a:schemeClr val="lt1"/>
                </a:highlight>
              </a:rPr>
              <a:t> function.</a:t>
            </a:r>
            <a:endParaRPr sz="5918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729450" y="543545"/>
            <a:ext cx="7688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Data Preprocessing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729450" y="1656050"/>
            <a:ext cx="76887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Drop </a:t>
            </a: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`</a:t>
            </a:r>
            <a:r>
              <a:rPr b="1" lang="en" sz="1500">
                <a:solidFill>
                  <a:srgbClr val="3C4043"/>
                </a:solidFill>
                <a:highlight>
                  <a:srgbClr val="FFFFFF"/>
                </a:highlight>
              </a:rPr>
              <a:t>DoctorInCharge</a:t>
            </a: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` and `</a:t>
            </a:r>
            <a:r>
              <a:rPr b="1" lang="en" sz="1500">
                <a:solidFill>
                  <a:srgbClr val="3C4043"/>
                </a:solidFill>
                <a:highlight>
                  <a:srgbClr val="FFFFFF"/>
                </a:highlight>
              </a:rPr>
              <a:t>PatientID</a:t>
            </a: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` columns using </a:t>
            </a:r>
            <a:r>
              <a:rPr b="1" i="1" lang="en" sz="1500">
                <a:solidFill>
                  <a:srgbClr val="3C4043"/>
                </a:solidFill>
                <a:highlight>
                  <a:srgbClr val="FFFFFF"/>
                </a:highlight>
              </a:rPr>
              <a:t>drop()</a:t>
            </a: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 function.</a:t>
            </a:r>
            <a:endParaRPr sz="150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Char char="●"/>
            </a:pP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Separate Features(X), also called independent variables and Target(y), also called dependent variable.</a:t>
            </a:r>
            <a:endParaRPr sz="150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Split the data using </a:t>
            </a:r>
            <a:r>
              <a:rPr b="1" i="1" lang="en" sz="1500">
                <a:solidFill>
                  <a:schemeClr val="dk2"/>
                </a:solidFill>
                <a:highlight>
                  <a:schemeClr val="lt1"/>
                </a:highlight>
              </a:rPr>
              <a:t>train_test_split()</a:t>
            </a:r>
            <a:r>
              <a:rPr lang="en" sz="1500">
                <a:solidFill>
                  <a:schemeClr val="dk2"/>
                </a:solidFill>
                <a:highlight>
                  <a:schemeClr val="lt1"/>
                </a:highlight>
              </a:rPr>
              <a:t> function.</a:t>
            </a:r>
            <a:endParaRPr sz="150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Scale the data using </a:t>
            </a:r>
            <a:r>
              <a:rPr b="1" i="1" lang="en" sz="1500">
                <a:solidFill>
                  <a:srgbClr val="3C4043"/>
                </a:solidFill>
                <a:highlight>
                  <a:srgbClr val="FFFFFF"/>
                </a:highlight>
              </a:rPr>
              <a:t>StandardScaler() </a:t>
            </a:r>
            <a:r>
              <a:rPr lang="en" sz="1500">
                <a:solidFill>
                  <a:srgbClr val="3C4043"/>
                </a:solidFill>
                <a:highlight>
                  <a:srgbClr val="FFFFFF"/>
                </a:highlight>
              </a:rPr>
              <a:t>function.</a:t>
            </a:r>
            <a:endParaRPr sz="1500"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729450" y="635375"/>
            <a:ext cx="76887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Model Performance (Comparison)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Logistic Regression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8750"/>
            <a:ext cx="5244700" cy="33736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33"/>
          <p:cNvGraphicFramePr/>
          <p:nvPr/>
        </p:nvGraphicFramePr>
        <p:xfrm>
          <a:off x="5538175" y="173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{A1648680-244E-4FFF-8595-AC186CBC018D}</a:tableStyleId>
              </a:tblPr>
              <a:tblGrid>
                <a:gridCol w="1759450"/>
                <a:gridCol w="1317225"/>
              </a:tblGrid>
              <a:tr h="4296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RESULT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44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82%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90%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 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94%  (Best)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6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K-NN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71%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729450" y="515450"/>
            <a:ext cx="7688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Lato"/>
                <a:ea typeface="Lato"/>
                <a:cs typeface="Lato"/>
                <a:sym typeface="Lato"/>
              </a:rPr>
              <a:t> Logistic Regression</a:t>
            </a:r>
            <a:endParaRPr sz="25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727650" y="1331250"/>
            <a:ext cx="41739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Linear model, interpretable and fast.  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Works well with linearly separable data.      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49225"/>
            <a:ext cx="4380099" cy="3292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34"/>
          <p:cNvGraphicFramePr/>
          <p:nvPr/>
        </p:nvGraphicFramePr>
        <p:xfrm>
          <a:off x="1062575" y="20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{A1648680-244E-4FFF-8595-AC186CBC018D}</a:tableStyleId>
              </a:tblPr>
              <a:tblGrid>
                <a:gridCol w="450975"/>
                <a:gridCol w="1046050"/>
                <a:gridCol w="1005650"/>
                <a:gridCol w="914925"/>
              </a:tblGrid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 Report 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60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ecall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0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0.74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0.74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0.74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Accuracy - 0.82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729450" y="574850"/>
            <a:ext cx="76887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Lato"/>
                <a:ea typeface="Lato"/>
                <a:cs typeface="Lato"/>
                <a:sym typeface="Lato"/>
              </a:rPr>
              <a:t>Decision Tree</a:t>
            </a:r>
            <a:endParaRPr sz="25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729450" y="1331250"/>
            <a:ext cx="61791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2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13"/>
              <a:buChar char="●"/>
            </a:pPr>
            <a:r>
              <a:rPr lang="en" sz="1412">
                <a:solidFill>
                  <a:schemeClr val="dk2"/>
                </a:solidFill>
              </a:rPr>
              <a:t>Tree-based model that splits data.</a:t>
            </a:r>
            <a:endParaRPr sz="1412">
              <a:solidFill>
                <a:schemeClr val="dk2"/>
              </a:solidFill>
            </a:endParaRPr>
          </a:p>
          <a:p>
            <a:pPr indent="-3182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13"/>
              <a:buChar char="●"/>
            </a:pPr>
            <a:r>
              <a:rPr lang="en" sz="1412">
                <a:solidFill>
                  <a:schemeClr val="dk2"/>
                </a:solidFill>
              </a:rPr>
              <a:t>Handles both numerical and categorical data.</a:t>
            </a:r>
            <a:endParaRPr sz="14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12">
              <a:solidFill>
                <a:schemeClr val="dk2"/>
              </a:solidFill>
            </a:endParaRPr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450" y="1845600"/>
            <a:ext cx="4069450" cy="3095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35"/>
          <p:cNvGraphicFramePr/>
          <p:nvPr/>
        </p:nvGraphicFramePr>
        <p:xfrm>
          <a:off x="1062575" y="20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{A1648680-244E-4FFF-8595-AC186CBC018D}</a:tableStyleId>
              </a:tblPr>
              <a:tblGrid>
                <a:gridCol w="450975"/>
                <a:gridCol w="1046050"/>
                <a:gridCol w="1005650"/>
                <a:gridCol w="914925"/>
              </a:tblGrid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Classification Report </a:t>
                      </a:r>
                      <a:endParaRPr sz="15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60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0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 - 0.90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729450" y="595025"/>
            <a:ext cx="76887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>
                <a:latin typeface="Lato"/>
                <a:ea typeface="Lato"/>
                <a:cs typeface="Lato"/>
                <a:sym typeface="Lato"/>
              </a:rPr>
              <a:t>K-Nearest Neighbors (k-NN)</a:t>
            </a:r>
            <a:endParaRPr sz="24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727650" y="1342650"/>
            <a:ext cx="7688700" cy="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Instance-based algorithm that classifies based on majority vote of nearest neighbors.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</a:rPr>
              <a:t>Performance depends on the choice of </a:t>
            </a:r>
            <a:r>
              <a:rPr b="1" lang="en" sz="1400">
                <a:solidFill>
                  <a:srgbClr val="000000"/>
                </a:solidFill>
              </a:rPr>
              <a:t>k</a:t>
            </a:r>
            <a:r>
              <a:rPr lang="en" sz="1400">
                <a:solidFill>
                  <a:srgbClr val="000000"/>
                </a:solidFill>
              </a:rPr>
              <a:t> and can be slow on large dataset.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150" y="2138075"/>
            <a:ext cx="3808698" cy="285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2" name="Google Shape;242;p36"/>
          <p:cNvGraphicFramePr/>
          <p:nvPr/>
        </p:nvGraphicFramePr>
        <p:xfrm>
          <a:off x="1062575" y="20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{A1648680-244E-4FFF-8595-AC186CBC018D}</a:tableStyleId>
              </a:tblPr>
              <a:tblGrid>
                <a:gridCol w="450975"/>
                <a:gridCol w="1046050"/>
                <a:gridCol w="1005650"/>
                <a:gridCol w="914925"/>
              </a:tblGrid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 Report 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60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0.73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0.79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0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0.63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0.41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0.50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Accuracy - 0.71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729450" y="564775"/>
            <a:ext cx="76887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Lato"/>
                <a:ea typeface="Lato"/>
                <a:cs typeface="Lato"/>
                <a:sym typeface="Lato"/>
              </a:rPr>
              <a:t>Random Forest</a:t>
            </a:r>
            <a:endParaRPr sz="25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729450" y="1341350"/>
            <a:ext cx="76887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Char char="●"/>
            </a:pPr>
            <a:r>
              <a:rPr lang="en" sz="1402">
                <a:solidFill>
                  <a:srgbClr val="000000"/>
                </a:solidFill>
              </a:rPr>
              <a:t>Ensemble of multiple decision trees.</a:t>
            </a:r>
            <a:endParaRPr sz="1402">
              <a:solidFill>
                <a:srgbClr val="000000"/>
              </a:solidFill>
            </a:endParaRPr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Char char="●"/>
            </a:pPr>
            <a:r>
              <a:rPr lang="en" sz="1402">
                <a:solidFill>
                  <a:srgbClr val="000000"/>
                </a:solidFill>
              </a:rPr>
              <a:t>Reduces overfitting compared to a single decision tree.</a:t>
            </a:r>
            <a:endParaRPr sz="1402">
              <a:solidFill>
                <a:srgbClr val="000000"/>
              </a:solidFill>
            </a:endParaRPr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Char char="●"/>
            </a:pPr>
            <a:r>
              <a:rPr lang="en" sz="1402">
                <a:solidFill>
                  <a:srgbClr val="000000"/>
                </a:solidFill>
              </a:rPr>
              <a:t>Provides feature importance scores to understand key predictors.</a:t>
            </a:r>
            <a:endParaRPr sz="1402">
              <a:solidFill>
                <a:srgbClr val="000000"/>
              </a:solidFill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475" y="2124087"/>
            <a:ext cx="4073326" cy="30535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37"/>
          <p:cNvGraphicFramePr/>
          <p:nvPr/>
        </p:nvGraphicFramePr>
        <p:xfrm>
          <a:off x="1062575" y="226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{A1648680-244E-4FFF-8595-AC186CBC018D}</a:tableStyleId>
              </a:tblPr>
              <a:tblGrid>
                <a:gridCol w="450975"/>
                <a:gridCol w="1046050"/>
                <a:gridCol w="1005650"/>
                <a:gridCol w="914925"/>
              </a:tblGrid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 Report 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60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0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0.88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0.91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039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Accuracy - 0.94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727650" y="577150"/>
            <a:ext cx="76887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Important Features for Detection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727650" y="1342675"/>
            <a:ext cx="7688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Our trained Random Forest model has a property called 'feature_importances_'.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This gives us a score for how important each feature was in making predictions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These top 10 features are listed below.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57" name="Google Shape;2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00" y="1855700"/>
            <a:ext cx="4750175" cy="30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8"/>
          <p:cNvSpPr txBox="1"/>
          <p:nvPr/>
        </p:nvSpPr>
        <p:spPr>
          <a:xfrm>
            <a:off x="1038775" y="2128000"/>
            <a:ext cx="3217200" cy="26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Functional Assessment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ADL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MMSE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1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lphaLcPeriod"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Memory Complaints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Behavioral Problems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Physical Activity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Diet Quality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Cholesterol HDL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Sleep Quality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AutoNum type="arabicPeriod"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BMI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729450" y="564775"/>
            <a:ext cx="76887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729450" y="1028700"/>
            <a:ext cx="76887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Among all models tested, </a:t>
            </a:r>
            <a:r>
              <a:rPr b="1" lang="en" sz="1500">
                <a:solidFill>
                  <a:srgbClr val="000000"/>
                </a:solidFill>
              </a:rPr>
              <a:t>Random</a:t>
            </a:r>
            <a:r>
              <a:rPr b="1" lang="en" sz="1500">
                <a:solidFill>
                  <a:srgbClr val="000000"/>
                </a:solidFill>
              </a:rPr>
              <a:t> Forest achieved the highest accuracy (94%)</a:t>
            </a:r>
            <a:r>
              <a:rPr lang="en" sz="1500">
                <a:solidFill>
                  <a:srgbClr val="000000"/>
                </a:solidFill>
              </a:rPr>
              <a:t>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Important predictors include </a:t>
            </a:r>
            <a:r>
              <a:rPr b="1" lang="en" sz="1500">
                <a:solidFill>
                  <a:srgbClr val="000000"/>
                </a:solidFill>
              </a:rPr>
              <a:t>Functional Assessment, ADL, MMSE, Memory Complaints, Behavioral Problems.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Ensemble models (Random Forest) </a:t>
            </a:r>
            <a:r>
              <a:rPr b="1" lang="en" sz="1500">
                <a:solidFill>
                  <a:srgbClr val="000000"/>
                </a:solidFill>
              </a:rPr>
              <a:t>outperformed</a:t>
            </a:r>
            <a:r>
              <a:rPr lang="en" sz="1500">
                <a:solidFill>
                  <a:srgbClr val="000000"/>
                </a:solidFill>
              </a:rPr>
              <a:t> simpler models (Logistic Regression, KNN).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Proper preprocessing (scaling, handling null values, removing duplicates) </a:t>
            </a:r>
            <a:r>
              <a:rPr b="1" lang="en" sz="1500">
                <a:solidFill>
                  <a:srgbClr val="000000"/>
                </a:solidFill>
              </a:rPr>
              <a:t>improved</a:t>
            </a:r>
            <a:r>
              <a:rPr lang="en" sz="1500">
                <a:solidFill>
                  <a:srgbClr val="000000"/>
                </a:solidFill>
              </a:rPr>
              <a:t> overall model </a:t>
            </a:r>
            <a:r>
              <a:rPr b="1" lang="en" sz="1500">
                <a:solidFill>
                  <a:srgbClr val="000000"/>
                </a:solidFill>
              </a:rPr>
              <a:t>performance</a:t>
            </a:r>
            <a:r>
              <a:rPr lang="en" sz="1500">
                <a:solidFill>
                  <a:srgbClr val="000000"/>
                </a:solidFill>
              </a:rPr>
              <a:t>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000000"/>
                </a:solidFill>
              </a:rPr>
              <a:t>Early detection of Alzheimer’s through ML can support timely medical interventions.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729450" y="625300"/>
            <a:ext cx="76887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solidFill>
                  <a:srgbClr val="1F1F1F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Reference</a:t>
            </a:r>
            <a:endParaRPr sz="2400">
              <a:solidFill>
                <a:srgbClr val="1F1F1F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729450" y="1482550"/>
            <a:ext cx="7688700" cy="31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20">
                <a:solidFill>
                  <a:srgbClr val="1F1F1F"/>
                </a:solidFill>
                <a:highlight>
                  <a:srgbClr val="FFFFFF"/>
                </a:highlight>
              </a:rPr>
              <a:t>[1] C. Jose, Preety, and Vidushi.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Comparative Analysis of Machine Learning Algorithms for Predicting Alzheimer's Disease. -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 </a:t>
            </a:r>
            <a:r>
              <a:rPr lang="en" sz="1420" u="sng">
                <a:solidFill>
                  <a:srgbClr val="0B57D0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https://doi.org/10.1109/ICUIS64676.2024.10867186</a:t>
            </a:r>
            <a:endParaRPr i="1" sz="142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20">
                <a:solidFill>
                  <a:srgbClr val="1F1F1F"/>
                </a:solidFill>
                <a:highlight>
                  <a:srgbClr val="FFFFFF"/>
                </a:highlight>
              </a:rPr>
              <a:t>[2] J. Neelaveni and M. S. G. Devasana.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Alzheimer Disease Prediction using Machine Learning Algorithms.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- </a:t>
            </a:r>
            <a:r>
              <a:rPr lang="en" sz="1420" u="sng">
                <a:solidFill>
                  <a:srgbClr val="0B57D0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https://doi.org/10.1109/ICACCS48705.2020.9074248</a:t>
            </a:r>
            <a:endParaRPr i="1" sz="142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20">
                <a:solidFill>
                  <a:srgbClr val="1F1F1F"/>
                </a:solidFill>
                <a:highlight>
                  <a:srgbClr val="FFFFFF"/>
                </a:highlight>
              </a:rPr>
              <a:t>[3] A. D. Arya, S. Singh Verma, P. Chakarabarti, and R. Bishnoi.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Prediction of Alzheimer's Disease – A Machine Learning Perspective with Ensemble Learning.</a:t>
            </a:r>
            <a:r>
              <a:rPr lang="en" sz="1420">
                <a:solidFill>
                  <a:srgbClr val="1F1F1F"/>
                </a:solidFill>
                <a:highlight>
                  <a:srgbClr val="FFFFFF"/>
                </a:highlight>
              </a:rPr>
              <a:t> - </a:t>
            </a:r>
            <a:r>
              <a:rPr lang="en" sz="1420" u="sng">
                <a:solidFill>
                  <a:srgbClr val="0B57D0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https://doi.org/10.1109/IC3I59117.2023.10397683</a:t>
            </a:r>
            <a:endParaRPr i="1" sz="142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20">
                <a:solidFill>
                  <a:srgbClr val="1F1F1F"/>
                </a:solidFill>
                <a:highlight>
                  <a:srgbClr val="FFFFFF"/>
                </a:highlight>
              </a:rPr>
              <a:t>[4] V. R, S. U, T. Shetty, and N. Guruprasad. 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Comprehensive Methodologies for Alzheimer’s Disease Prediction: A Machine Learning Approach.</a:t>
            </a:r>
            <a:r>
              <a:rPr i="1" lang="en" sz="1420">
                <a:solidFill>
                  <a:srgbClr val="1F1F1F"/>
                </a:solidFill>
                <a:highlight>
                  <a:srgbClr val="FFFFFF"/>
                </a:highlight>
              </a:rPr>
              <a:t> - </a:t>
            </a:r>
            <a:r>
              <a:rPr lang="en" sz="1420" u="sng">
                <a:solidFill>
                  <a:srgbClr val="0B57D0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https://doi.org/10.1109/ICICAT62666.2024.10923447</a:t>
            </a:r>
            <a:endParaRPr sz="1420" u="sng">
              <a:solidFill>
                <a:srgbClr val="0B57D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i="1" sz="142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